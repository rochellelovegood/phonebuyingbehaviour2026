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Lato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6D530F-BD8D-4CA7-9FBD-27C17C448879}">
  <a:tblStyle styleId="{CC6D530F-BD8D-4CA7-9FBD-27C17C4488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7.png"/><Relationship Id="rId13" Type="http://schemas.openxmlformats.org/officeDocument/2006/relationships/image" Target="../media/image12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48.png"/><Relationship Id="rId1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28.png"/><Relationship Id="rId7" Type="http://schemas.openxmlformats.org/officeDocument/2006/relationships/image" Target="../media/image8.png"/><Relationship Id="rId8" Type="http://schemas.openxmlformats.org/officeDocument/2006/relationships/image" Target="../media/image3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26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56.png"/><Relationship Id="rId5" Type="http://schemas.openxmlformats.org/officeDocument/2006/relationships/image" Target="../media/image23.png"/><Relationship Id="rId6" Type="http://schemas.openxmlformats.org/officeDocument/2006/relationships/image" Target="../media/image55.png"/><Relationship Id="rId7" Type="http://schemas.openxmlformats.org/officeDocument/2006/relationships/image" Target="../media/image31.png"/><Relationship Id="rId8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8.png"/><Relationship Id="rId5" Type="http://schemas.openxmlformats.org/officeDocument/2006/relationships/image" Target="../media/image30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57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Relationship Id="rId5" Type="http://schemas.openxmlformats.org/officeDocument/2006/relationships/image" Target="../media/image36.png"/><Relationship Id="rId6" Type="http://schemas.openxmlformats.org/officeDocument/2006/relationships/image" Target="../media/image39.png"/><Relationship Id="rId7" Type="http://schemas.openxmlformats.org/officeDocument/2006/relationships/image" Target="../media/image53.png"/><Relationship Id="rId8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Relationship Id="rId6" Type="http://schemas.openxmlformats.org/officeDocument/2006/relationships/image" Target="../media/image41.png"/><Relationship Id="rId7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42.png"/><Relationship Id="rId5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1857375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5743" y="4429125"/>
            <a:ext cx="410051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045743" y="4667250"/>
            <a:ext cx="9191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Course Code</a:t>
            </a: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IS-212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345906" y="4667250"/>
            <a:ext cx="1285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Ma Khin Than Thar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012781" y="4667250"/>
            <a:ext cx="1133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September 2026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345406" y="2352675"/>
            <a:ext cx="9501187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Phone Buying Behavior Analysis in Myanmar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909887" y="3733800"/>
            <a:ext cx="6372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Empirical Churn Drivers, Customer Segmentation &amp; Predictive Mining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8258"/>
            <a:ext cx="53816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018258"/>
            <a:ext cx="53816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1208"/>
            <a:ext cx="53816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761208"/>
            <a:ext cx="53816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04158"/>
            <a:ext cx="53816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3504158"/>
            <a:ext cx="53816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47108"/>
            <a:ext cx="53816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247108"/>
            <a:ext cx="53816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90058"/>
            <a:ext cx="53816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216113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216113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290408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290408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364703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77000" y="364703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9625" y="438998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77000" y="438998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625" y="513293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1266825" y="2223045"/>
            <a:ext cx="2305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Introduction &amp; Market Objectives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934200" y="2223045"/>
            <a:ext cx="2190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Data Collection &amp; Preprocessing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266825" y="2965995"/>
            <a:ext cx="2476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Demographics &amp; Budget Distribution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934200" y="2965995"/>
            <a:ext cx="1876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Priority Analysis by Gender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266825" y="3708945"/>
            <a:ext cx="2286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Brand Switching &amp; Churn Analysis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934200" y="3708945"/>
            <a:ext cx="2105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Customer Segments (K-Means)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266825" y="4451895"/>
            <a:ext cx="16097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Association Rule Mining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934200" y="4451895"/>
            <a:ext cx="1704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Predictive Model Results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266825" y="5194845"/>
            <a:ext cx="2171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Recommendations &amp; Conclusion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Presentation Agenda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1989683"/>
            <a:ext cx="53530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914400" y="2523083"/>
            <a:ext cx="50101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Dynamic Market: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Highly competitive landscape dominated by Apple, Samsung, Redmi, Vivo, and Xiaomi.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3161258"/>
            <a:ext cx="50101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Churn Rate: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73%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of surveyed respondents have actively switched phone brands.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3799433"/>
            <a:ext cx="50101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Core Objective: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Understand </a:t>
            </a:r>
            <a:r>
              <a:rPr b="0" i="1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WHY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consumers switch brands and build a machine learning model to </a:t>
            </a:r>
            <a:r>
              <a:rPr b="0" i="1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PREDICT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churn.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437608"/>
            <a:ext cx="50101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Dataset: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550 empirical survey responses collected from university students across Myanmar.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7450" y="1989683"/>
            <a:ext cx="53530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4689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1850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232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461420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Executive Summary &amp; Overview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/>
          <p:nvPr/>
        </p:nvSpPr>
        <p:spPr>
          <a:xfrm>
            <a:off x="571500" y="2318295"/>
            <a:ext cx="11049000" cy="29622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16"/>
          <p:cNvGraphicFramePr/>
          <p:nvPr/>
        </p:nvGraphicFramePr>
        <p:xfrm>
          <a:off x="571500" y="23182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{CC6D530F-BD8D-4CA7-9FBD-27C17C448879}</a:tableStyleId>
              </a:tblPr>
              <a:tblGrid>
                <a:gridCol w="2255350"/>
                <a:gridCol w="4054075"/>
                <a:gridCol w="4739575"/>
              </a:tblGrid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 Domain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Collected Data Fields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Preprocessing &amp; Transformation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Demographics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Age, Gender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Cleaned range outliers; mapped age brackets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Brand Usage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Current Brand, Previous Brand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Created brand switching status matrix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Economics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Budget (Lakhs MMK)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Normalized numeric scale (Range: 10 - 50L)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Behavioral Scores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Loyalty, AI Interest, After-Sales (1-5)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Standardized ordinal scoring metrics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Priorities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Camera, Battery, Gaming, SOC, Brand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Challenge:</a:t>
                      </a: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Comma-separated strings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Solution:</a:t>
                      </a: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Binary One-Hot Encoding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16"/>
          <p:cNvSpPr/>
          <p:nvPr/>
        </p:nvSpPr>
        <p:spPr>
          <a:xfrm>
            <a:off x="571500" y="3251745"/>
            <a:ext cx="2255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2826841" y="3251745"/>
            <a:ext cx="4054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880919" y="3251745"/>
            <a:ext cx="4739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71500" y="3704183"/>
            <a:ext cx="2255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826841" y="3704183"/>
            <a:ext cx="4054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880919" y="3704183"/>
            <a:ext cx="4739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71500" y="4156620"/>
            <a:ext cx="2255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826841" y="4156620"/>
            <a:ext cx="4054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880919" y="4156620"/>
            <a:ext cx="4739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571500" y="4609058"/>
            <a:ext cx="2255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826841" y="4609058"/>
            <a:ext cx="4054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6880919" y="4609058"/>
            <a:ext cx="4739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Collection &amp; Preprocessing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95117"/>
            <a:ext cx="11049000" cy="1528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74986"/>
            <a:ext cx="3530500" cy="1291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0600" y="2274986"/>
            <a:ext cx="3530649" cy="1291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2274986"/>
            <a:ext cx="3530500" cy="129153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1123950" y="4061817"/>
            <a:ext cx="1077134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Demographic Insights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09625" y="4442817"/>
            <a:ext cx="105727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 Distribution: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Spans 19 to 54 years, heavily concentrated among university students (19–25 years).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09625" y="4657129"/>
            <a:ext cx="10572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Price Sensitivity: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University students exhibit strong budget awareness, making the 10–16 Lakhs MMK tier the most competitive battleground for smartphone manufacturers.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771525" y="2551211"/>
            <a:ext cx="3130450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23 Yrs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71525" y="3109317"/>
            <a:ext cx="3130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Average Respondent Age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4530625" y="2551211"/>
            <a:ext cx="3130599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16 Lakhs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4530625" y="3109317"/>
            <a:ext cx="31305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Average Budget (MMK)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289875" y="2551211"/>
            <a:ext cx="3130450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10 Lakhs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289875" y="3109317"/>
            <a:ext cx="3130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 Common Budget</a:t>
            </a:r>
            <a:endParaRPr/>
          </a:p>
        </p:txBody>
      </p:sp>
      <p:pic>
        <p:nvPicPr>
          <p:cNvPr descr="image.png" id="182" name="Google Shape;18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410944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Demographics &amp; Budget Metrics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7265"/>
            <a:ext cx="11049000" cy="516448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Priorities by Gender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7265"/>
            <a:ext cx="11049000" cy="516448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Brand Switching Dynamics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5420"/>
            <a:ext cx="5429250" cy="1528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175420"/>
            <a:ext cx="5429250" cy="1528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94683"/>
            <a:ext cx="5429250" cy="1528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3894683"/>
            <a:ext cx="5429250" cy="152876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095375" y="2442120"/>
            <a:ext cx="49006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Cluster 0: Feature Enthusiasts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09625" y="2823120"/>
            <a:ext cx="4953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Share: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39% (215 users) |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Avg Age: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22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09625" y="3037433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Budget: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15.8L MMK |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Traits: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High AI feature demand, seeks maximum tech specifications.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743700" y="2442120"/>
            <a:ext cx="487060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Cluster 1: Premium Power Users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429375" y="2823120"/>
            <a:ext cx="4953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Share: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28% (155 users) |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Avg Age: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24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429375" y="3037433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Budget: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21.3L MMK |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Traits: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Highest budget, brand loyal (4.57/5 loyalty score).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143000" y="4161383"/>
            <a:ext cx="48506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Cluster 2: Senior Traditionalists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09625" y="4542383"/>
            <a:ext cx="4953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Share: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28% (155 users) |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Avg Age: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31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09625" y="4756695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Budget: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12.2L MMK |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Traits: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Low AI interest, values utility and battery longevity.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715125" y="4161383"/>
            <a:ext cx="49006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Cluster 3: Budget Hunters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429375" y="4542383"/>
            <a:ext cx="4953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Share: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4.5% (25 users) |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Avg Age: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44.6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429375" y="4756695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Budget: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9.8L MMK |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Traits: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Lowest price ceiling, highly value-conscious mindset.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248974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9375" y="248974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4209008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29375" y="420900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Customer Segmentation (K-Means)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71500" y="2468314"/>
            <a:ext cx="11049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Frequent priority combinations discovered using the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Apriori Algorithm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71500" y="2835026"/>
            <a:ext cx="11049000" cy="22955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5" name="Google Shape;235;p21"/>
          <p:cNvGraphicFramePr/>
          <p:nvPr/>
        </p:nvGraphicFramePr>
        <p:xfrm>
          <a:off x="571500" y="2835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{CC6D530F-BD8D-4CA7-9FBD-27C17C448879}</a:tableStyleId>
              </a:tblPr>
              <a:tblGrid>
                <a:gridCol w="3253675"/>
                <a:gridCol w="2931625"/>
                <a:gridCol w="1592900"/>
                <a:gridCol w="2016475"/>
                <a:gridCol w="1254325"/>
              </a:tblGrid>
              <a:tr h="4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Rule Antecedent (If)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Consequent (Then)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Confidence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Lift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{Affordability, Camera}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{Battery}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10.18%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75.68%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1.27x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{Brand Reputation}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{Camera}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12.40%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79.85%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1.11x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{Affordability}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{Battery}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18.50%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70.75%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1.18x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{Gaming, Processor}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{Battery}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8.90%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68.40%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1.22x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21"/>
          <p:cNvSpPr/>
          <p:nvPr/>
        </p:nvSpPr>
        <p:spPr>
          <a:xfrm>
            <a:off x="571500" y="3768476"/>
            <a:ext cx="325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3825180" y="3768476"/>
            <a:ext cx="2931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756796" y="3768476"/>
            <a:ext cx="1592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8349704" y="3768476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10366176" y="3768476"/>
            <a:ext cx="1254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71500" y="4220914"/>
            <a:ext cx="325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825180" y="4220914"/>
            <a:ext cx="2931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6756796" y="4220914"/>
            <a:ext cx="1592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8349704" y="4220914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10366176" y="4220914"/>
            <a:ext cx="1254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71500" y="4673351"/>
            <a:ext cx="325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3825180" y="4673351"/>
            <a:ext cx="2931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756796" y="4673351"/>
            <a:ext cx="1592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8349704" y="4673351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10366176" y="4673351"/>
            <a:ext cx="1254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Association Rule Mining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5486"/>
            <a:ext cx="5353050" cy="1291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7450" y="2661195"/>
            <a:ext cx="535305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771525" y="2741711"/>
            <a:ext cx="4953000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91.5%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771525" y="3299817"/>
            <a:ext cx="4953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 Accuracy (Gradient Boosting)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914400" y="3947517"/>
            <a:ext cx="50101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Precision: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0.96 (High fidelity in predicting switchers)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914400" y="4342804"/>
            <a:ext cx="50101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Recall: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0.93 (Captures 93% of true churn cases)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914400" y="4738092"/>
            <a:ext cx="50101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F1-Score: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0.94 (Optimal balance)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791325" y="2927895"/>
            <a:ext cx="48206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Confusion Matrix</a:t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6505575" y="3308895"/>
            <a:ext cx="4876800" cy="13906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7" name="Google Shape;267;p22"/>
          <p:cNvGraphicFramePr/>
          <p:nvPr/>
        </p:nvGraphicFramePr>
        <p:xfrm>
          <a:off x="6505575" y="3308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{CC6D530F-BD8D-4CA7-9FBD-27C17C448879}</a:tableStyleId>
              </a:tblPr>
              <a:tblGrid>
                <a:gridCol w="1736675"/>
                <a:gridCol w="1472200"/>
                <a:gridCol w="1667925"/>
              </a:tblGrid>
              <a:tr h="4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 / Pred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Pred: Stayed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Pred: Switched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Actual: Stayed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 (TN)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(FP)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Actual: Switched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 (FN)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111 (TP)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268" name="Google Shape;26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5575" y="29755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7132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666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61904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/>
          <p:nvPr/>
        </p:nvSpPr>
        <p:spPr>
          <a:xfrm>
            <a:off x="6505575" y="4242345"/>
            <a:ext cx="173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8242250" y="4242345"/>
            <a:ext cx="1472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9714458" y="4242345"/>
            <a:ext cx="16679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Predictive Model Metrics</a:t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7265"/>
            <a:ext cx="11049000" cy="516448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Drivers of Brand Switching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571500" y="476250"/>
            <a:ext cx="5600700" cy="80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Interactive Analytics Dashboard</a:t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571500" y="1348680"/>
            <a:ext cx="5334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2" name="Google Shape;2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 txBox="1"/>
          <p:nvPr/>
        </p:nvSpPr>
        <p:spPr>
          <a:xfrm>
            <a:off x="914400" y="3036540"/>
            <a:ext cx="49911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Streamlit Web App: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Real-time exploration of Myanmar student dataset.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914400" y="3674715"/>
            <a:ext cx="49911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7 Modules: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Overview, Brand Gain/Loss, K-Means Clustering, Rule Mining, Churn Predictor, Explorer, &amp; Strategic Insights.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914400" y="4312890"/>
            <a:ext cx="49911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Interactive Tools: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Test custom customer profiles dynamically to evaluate churn probability.</a:t>
            </a:r>
            <a:endParaRPr/>
          </a:p>
        </p:txBody>
      </p:sp>
      <p:pic>
        <p:nvPicPr>
          <p:cNvPr descr="image.png" id="296" name="Google Shape;29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6035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9852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3670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42208"/>
            <a:ext cx="35305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600" y="3142208"/>
            <a:ext cx="3530649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9850" y="3142208"/>
            <a:ext cx="353050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1095375" y="3408908"/>
            <a:ext cx="290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Dynamic Filters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809625" y="3789908"/>
            <a:ext cx="3054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Filter entire survey cohort by brand, age bracket, and budget ceiling dynamically.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4854475" y="3408908"/>
            <a:ext cx="290708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Brand Matrix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4568725" y="3789908"/>
            <a:ext cx="30543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Analyze brand-to-brand transition flows and customer migration metrics.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8661350" y="3408908"/>
            <a:ext cx="285691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Real-time Predictor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8327975" y="3789908"/>
            <a:ext cx="3054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Input individual customer parameters to predict churn risk instantaneously.</a:t>
            </a:r>
            <a:endParaRPr/>
          </a:p>
        </p:txBody>
      </p:sp>
      <p:pic>
        <p:nvPicPr>
          <p:cNvPr descr="image.png" id="313" name="Google Shape;31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345653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8725" y="345653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7975" y="3456533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Live Dashboard Features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6"/>
          <p:cNvSpPr txBox="1"/>
          <p:nvPr/>
        </p:nvSpPr>
        <p:spPr>
          <a:xfrm>
            <a:off x="914400" y="3008858"/>
            <a:ext cx="107061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Camera + Battery Bundles: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Focus marketing on budget models offering strong battery performance paired with high-spec camera optics.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914400" y="3404145"/>
            <a:ext cx="107061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Youth Loyalty Programs: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Target university students (19–25 age group) early to capture brand loyalty prior to budget expansion.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914400" y="3799433"/>
            <a:ext cx="107061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 Capability Acceleration: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Enhance on-device AI features in mid-range devices to counter market share loss to Apple.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914400" y="4194720"/>
            <a:ext cx="107061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After-Sales Support Expansion: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Upgrade regional repair hubs to boost retention among high-value customer clusters.</a:t>
            </a:r>
            <a:endParaRPr/>
          </a:p>
        </p:txBody>
      </p:sp>
      <p:pic>
        <p:nvPicPr>
          <p:cNvPr descr="image.png" id="327" name="Google Shape;32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326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2795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232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1853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6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Strategic Business Recommendations</a:t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9450" y="3829050"/>
            <a:ext cx="57531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295275" y="2266950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571500" y="32289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Phone Buying Behavior Analysis in Myanmar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3609975" y="4029075"/>
            <a:ext cx="733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Presenter: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5734050" y="4029075"/>
            <a:ext cx="533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Course: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4991100" y="4210050"/>
            <a:ext cx="2209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Questions &amp; Discussion Welcome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/>
          <p:nvPr/>
        </p:nvSpPr>
        <p:spPr>
          <a:xfrm>
            <a:off x="1919287" y="3032670"/>
            <a:ext cx="83534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1919287" y="3794670"/>
            <a:ext cx="83534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919287" y="3794670"/>
            <a:ext cx="83534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2" name="Google Shape;35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9287" y="31755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8"/>
          <p:cNvSpPr txBox="1"/>
          <p:nvPr/>
        </p:nvSpPr>
        <p:spPr>
          <a:xfrm>
            <a:off x="3014662" y="3182689"/>
            <a:ext cx="72580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https://nuumobile.com/wp-content/uploads/2025/10/b40-android-phone-front-back.jpg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3014662" y="3416051"/>
            <a:ext cx="7258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nuumobile.com</a:t>
            </a:r>
            <a:endParaRPr/>
          </a:p>
        </p:txBody>
      </p:sp>
      <p:pic>
        <p:nvPicPr>
          <p:cNvPr descr="image.png" id="355" name="Google Shape;35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9287" y="39470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8"/>
          <p:cNvSpPr txBox="1"/>
          <p:nvPr/>
        </p:nvSpPr>
        <p:spPr>
          <a:xfrm>
            <a:off x="3014662" y="3954214"/>
            <a:ext cx="72580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https://images.stockcake.com/public/c/9/a/c9a7a5e8-a217-445c-bdf0-e740903f156c_large/modern-data-dashboard-stockcake.jpg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3014662" y="4187576"/>
            <a:ext cx="7258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59" name="Google Shape;359;p28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